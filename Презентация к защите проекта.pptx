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54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Методика расчёта TAM: по данным TAdviser, рынок SCM-систем в РФ в 2023 г. составил 12,5 млрд руб., на модули прогнозирования спроса и оптимизацию запасов приходится 30–35% рынка; с учётом внедренческих услуг и облачных подписок TAM оценивается в 4,5–5,0 млрд руб. SAM охватывает средние и крупные продуктовые сети (50–5000 магазинов, 5 000–50 000 SKU) и FMCG-дистрибьюторов, исключая топ-10 федеральных гигантов с собственными ИТ-командами и мелкую несетевую розницу; сегмент формирует ~55–60% оборота организованной food-розницы, SAM ≈ 55% от TAM = 2,5–2,8 млрд руб. (Источник: INFOLine «Рейтинг розничных сетей РФ 2023»). SOM: количество целевых сетей и дистрибьюторов ~300–350 компаний, средний годовой контракт SaaS для сети с 15 000–20 000 SKU — 5–8 млн руб., при конверсии 3% (10–12 клиентов) и среднем чеке 8 млн руб. годовая выручка — 80–100 млн руб., с учётом платных пилотов и доп. услуг — до 150 млн руб. (Источник: собственная финансовая модель на основе средних цен российских SaaS-вендоров и опросов ритейлеров). ВНИМАНИЕ: эти источники и методика не входят в приложенные файлы проекта — перепроверить перед защитой.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Продукт как решение проблемы: сервис принимает исторические продажи и ковариаты (цены, промо-флаги, календарь), рассчитывает точечный прогноз спроса на горизонте 28 дней на уровне «товар × магазин» и выдаёт результат менеджеру для формирования заказа поставщику и расчёта страхового запаса.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</a:t>
            </a:r>
            <a:r>
              <a:rPr lang="en-US" sz="1400" b="1" kern="0" spc="200" dirty="0" err="1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</a:t>
            </a: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kern="0" spc="200" dirty="0" err="1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прогнозирования</a:t>
            </a: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kern="0" spc="200" dirty="0" err="1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спроса</a:t>
            </a: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розничной </a:t>
            </a:r>
            <a:r>
              <a:rPr lang="en-US" sz="1400" b="1" kern="0" spc="200" dirty="0" err="1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торговле</a:t>
            </a:r>
            <a:endParaRPr lang="en-US" sz="1400" b="1" kern="0" spc="200" dirty="0">
              <a:solidFill>
                <a:srgbClr val="E887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RetailForecast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246245" y="4360545"/>
            <a:ext cx="7600950" cy="1503862"/>
          </a:xfrm>
          <a:prstGeom prst="roundRect">
            <a:avLst>
              <a:gd name="adj" fmla="val 4324"/>
            </a:avLst>
          </a:prstGeom>
          <a:solidFill>
            <a:srgbClr val="24334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7" name="Text 5"/>
          <p:cNvSpPr/>
          <p:nvPr/>
        </p:nvSpPr>
        <p:spPr>
          <a:xfrm>
            <a:off x="4361361" y="4584248"/>
            <a:ext cx="7600950" cy="12801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Сервис, который предсказывает спрос по каждому товару в каждом магазине на 28 дней вперёд и выдаёт прогноз для формирования заказа поставщику, чтобы не было ни дефицита на полке,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</a:t>
            </a:r>
            <a:r>
              <a:rPr lang="ru-RU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лишнего</a:t>
            </a:r>
            <a:r>
              <a:rPr lang="ru-RU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товара</a:t>
            </a:r>
            <a:r>
              <a:rPr lang="ru-RU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складе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Фадеев Константин  ·  Data Scientist</a:t>
            </a:r>
            <a:endParaRPr lang="en-US" sz="16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FDEA18C-F858-6E3D-8A4E-606F80D6DDA0}"/>
              </a:ext>
            </a:extLst>
          </p:cNvPr>
          <p:cNvSpPr/>
          <p:nvPr/>
        </p:nvSpPr>
        <p:spPr>
          <a:xfrm>
            <a:off x="9806940" y="155448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F4AE1FA-2269-A4E4-C510-CB862BCE0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1691640"/>
            <a:ext cx="1188720" cy="118872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2A47AE98-C7FD-F670-26A6-044A5224CD4B}"/>
              </a:ext>
            </a:extLst>
          </p:cNvPr>
          <p:cNvSpPr/>
          <p:nvPr/>
        </p:nvSpPr>
        <p:spPr>
          <a:xfrm>
            <a:off x="9852660" y="2926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github.com/Stern-Ritter/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demand-forecasting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51660"/>
            <a:ext cx="352044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Категорийный менеджер розничной сети (50–5000 магазинов, 5 000–50 000 SKU) еженедельно формирует заказы поставщикам по 200–2000 SKU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6002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851660"/>
            <a:ext cx="352044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Принимать уверенное решение о количестве товара для заказа на 28 дней вперёд, снизив число ошибок и не тратя более 8 часов в неделю на ручную корректировку прогноза в Excel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0020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851660"/>
            <a:ext cx="352044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28600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Минимизировать два вида потерь — out-of-stock (упущенная выручка, снижение лояльности) и мёртвый склад/списания (особенно критично для товаров с коротким сроком годности)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6177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</a:t>
            </a:r>
            <a:r>
              <a:rPr lang="ru-RU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проблемы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endParaRPr lang="ru-RU" sz="13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количество нулевых продаж (прерывистый спрос) — прогноз объективно сложен для простых методов; </a:t>
            </a:r>
            <a:endParaRPr lang="ru-RU" sz="13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инструменты (Excel, встроенные ERP-модели) не учитывают промо, цены и праздники.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цифр: оценки на основе отраслевых данных и интервью с категорийными менеджерами.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Целевая аудитория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Категорийные менеджеры и менеджеры по управлению товарными запасами в среднем и крупном продуктовом ритейле России — сети от 50 до 5000 магазинов, ассортимент 5 000–50 000 SKU.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целевых клиентов: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региональные сети («Командор»), федеральные сети второго эшелона («Светофор», «Бристоль»), FMCG-дистрибьюторы.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8288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28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решают сейчас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37960" y="23317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экспертное мнение — более 50% рынка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Встроенные модули 1С — используются слабо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Дорогие F&amp;R-системы; in-house DS-команды — только у крупнейших сетей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37947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0233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4023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устраивает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537960" y="4526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доверяют «чёрному ящику» — не понимают, откуда взялся прогноз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Промоакции, праздники и сезонность плохо учитываются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 (и модель монетизации)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1922"/>
            <a:ext cx="2194560" cy="1675638"/>
          </a:xfrm>
          <a:prstGeom prst="roundRect">
            <a:avLst>
              <a:gd name="adj" fmla="val 4366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507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5453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4,5–5,0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3916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924812"/>
            <a:ext cx="2194560" cy="1412748"/>
          </a:xfrm>
          <a:prstGeom prst="roundRect">
            <a:avLst>
              <a:gd name="adj" fmla="val 5178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9979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2174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2,5–2,8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26080" y="27020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2187702"/>
            <a:ext cx="2194560" cy="1149858"/>
          </a:xfrm>
          <a:prstGeom prst="roundRect">
            <a:avLst>
              <a:gd name="adj" fmla="val 6362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26085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48031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100–150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03520" y="296494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₽/год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1084" y="3881629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u-RU" sz="13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рынка: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стагнация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ru-RU" sz="13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ru-RU" sz="13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SaaS-подписка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1554480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 и позиция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9560" y="214884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Прямые: 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NOW!, GoodsForecast, Novo Forecast, Napoleon IT ADR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Косвенные: 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1С:ERP/УТ, 1С-Товары, KORUS|Forecast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Альтернативы: 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in-house DS-команды, аутсорс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3429000"/>
            <a:ext cx="3474720" cy="0"/>
          </a:xfrm>
          <a:prstGeom prst="line">
            <a:avLst/>
          </a:prstGeom>
          <a:noFill/>
          <a:ln w="12700">
            <a:solidFill>
              <a:srgbClr val="D7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37490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1С-Товары — от 2 000 ₽/мес/магазин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— от </a:t>
            </a:r>
            <a:r>
              <a:rPr lang="ru-RU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млн ₽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Tx/>
              <a:buChar char="•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коридор:</a:t>
            </a:r>
            <a:r>
              <a:rPr lang="ru-RU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тыс 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₽/мес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</a:t>
            </a:r>
            <a:endParaRPr lang="en-US" sz="1150" b="1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09560" y="4709160"/>
            <a:ext cx="3200400" cy="997676"/>
          </a:xfrm>
          <a:prstGeom prst="roundRect">
            <a:avLst>
              <a:gd name="adj" fmla="val 8421"/>
            </a:avLst>
          </a:prstGeom>
          <a:solidFill>
            <a:srgbClr val="EEF1F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09560" y="4666705"/>
            <a:ext cx="3200400" cy="1129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«Простой и недорогой ML-сервис для среднего ритейла, который запускается за </a:t>
            </a:r>
            <a:r>
              <a:rPr lang="ru-RU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недели вместо 3 месяцев, занимая нишу между  1С-Товары и enterprise-</a:t>
            </a:r>
            <a:r>
              <a:rPr lang="en-US" sz="1100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решениями</a:t>
            </a: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Сервис, который предсказывает спрос на 28 дней вперёд по каждому товару и магазину.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3246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5204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CSV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4663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товара, дата, продажи, цены, события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4114800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3246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5204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29200" y="4663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точечный прогноз спроса на 28 дней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8" y="4114800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595360" y="3246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352044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7824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Прогноз-таблица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8823960" y="4663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заказа поставщику и страхового запаса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Технологическое решение и метрики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663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выбор модели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206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модель: LightGBM (Tweedie-loss), глобальная — обучена на всех рядах «товар × магазин»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Гиперпараметры — через Optuna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 прогноз: короткие лаги без утечки — каждый день горизонта считается последовательно из собственных прогнозов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Сравнены: Naive, Ridge, Random Forest, AutoETS, AutoARIMA, CrostonOptimized, TSB, IMAPA, DeepAR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EEF1F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9560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сработало / проверено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5230368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train+val + seed-</a:t>
            </a:r>
            <a:r>
              <a:rPr lang="en-US" sz="10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ухудшили </a:t>
            </a:r>
            <a:r>
              <a:rPr lang="ru-RU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итоговую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WRMSSE (0.6744)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LGBM/DeepAR/AutoETS — выигрыш по упрощённой (0.740), но </a:t>
            </a:r>
            <a:r>
              <a:rPr lang="en-US" sz="10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уступил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рекурсивно</a:t>
            </a:r>
            <a:r>
              <a:rPr lang="ru-RU" sz="10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</a:t>
            </a:r>
            <a:r>
              <a:rPr lang="ru-RU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по </a:t>
            </a:r>
            <a:r>
              <a:rPr lang="ru-RU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итоговой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WRMSSE.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масштаба </a:t>
            </a:r>
            <a:r>
              <a:rPr lang="ru-RU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прогноза множетелем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эффект незначительный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932974"/>
              </p:ext>
            </p:extLst>
          </p:nvPr>
        </p:nvGraphicFramePr>
        <p:xfrm>
          <a:off x="5486400" y="1463040"/>
          <a:ext cx="6172200" cy="384048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Упрощенная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WRMSSE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Итоговая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WRMSSE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(lag=7)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/ Random Forest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 / 0.775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</a:t>
                      </a: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считалась</a:t>
                      </a:r>
                      <a:endParaRPr lang="en-US" sz="1050" dirty="0">
                        <a:solidFill>
                          <a:srgbClr val="1B2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53726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AutoARIMA</a:t>
                      </a:r>
                      <a:endParaRPr lang="en-US" sz="1050" kern="1200" dirty="0">
                        <a:solidFill>
                          <a:srgbClr val="1B2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ru-RU" sz="1050" kern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1050" kern="1200" dirty="0">
                        <a:solidFill>
                          <a:srgbClr val="1B2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</a:t>
                      </a: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считалась</a:t>
                      </a:r>
                      <a:endParaRPr lang="en-US" sz="1050" dirty="0">
                        <a:solidFill>
                          <a:srgbClr val="1B2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6052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</a:t>
                      </a: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считалась</a:t>
                      </a:r>
                      <a:endParaRPr lang="en-US" sz="1050" dirty="0">
                        <a:solidFill>
                          <a:srgbClr val="1B2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12376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DeepAR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0.771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</a:t>
                      </a: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считалась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050" dirty="0" err="1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Optuna</a:t>
                      </a: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(leak-safe)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full (train+val, seed-ens)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Ансамбль LGBM/DeepAR/AutoETS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рекурсивный (финал)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0" y="5440678"/>
            <a:ext cx="6172200" cy="1097281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5486398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данных и признаки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40680" y="5714998"/>
            <a:ext cx="5989320" cy="822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Walmart (30 490 </a:t>
            </a:r>
            <a:r>
              <a:rPr lang="en-US" sz="1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рядов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1 941 </a:t>
            </a:r>
            <a:r>
              <a:rPr lang="en-US" sz="1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long-</a:t>
            </a:r>
            <a:r>
              <a:rPr lang="en-US" sz="1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59,2 млн </a:t>
            </a:r>
            <a:r>
              <a:rPr lang="en-US" sz="1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фантомные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нули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(20,9%). 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41 шт. Важность: лидирует item_id_enc, далее days_since_release и weekofyear; заметный вклад — ценовые признаки и store_id_enc; минимальный — snap, is_weekend, is_christmas и типы событий.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</a:t>
            </a:r>
            <a:r>
              <a:rPr lang="ru-RU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сервиса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5B7FA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69164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1945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" y="256032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· UI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260" y="217170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23160" y="150876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5B7FA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3512" y="1691640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96312" y="21945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496312" y="256032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web-proxy :80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217170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297680" y="150876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691640"/>
            <a:ext cx="402336" cy="4023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0832" y="21945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(app)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370832" y="256032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auth · биллинг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17170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172200" y="150876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1691640"/>
            <a:ext cx="402336" cy="40233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245352" y="21945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245352" y="256032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задач</a:t>
            </a:r>
            <a:endParaRPr lang="en-US" sz="8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20" y="217170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8046720" y="150876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1691640"/>
            <a:ext cx="402336" cy="40233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119872" y="21945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ml_worker × N</a:t>
            </a:r>
            <a:endParaRPr lang="en-US" sz="1100" dirty="0"/>
          </a:p>
        </p:txBody>
      </p:sp>
      <p:sp>
        <p:nvSpPr>
          <p:cNvPr id="27" name="Text 16"/>
          <p:cNvSpPr/>
          <p:nvPr/>
        </p:nvSpPr>
        <p:spPr>
          <a:xfrm>
            <a:off x="8119872" y="256032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 LightGBM</a:t>
            </a:r>
            <a:endParaRPr lang="en-US" sz="8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2171700"/>
            <a:ext cx="274320" cy="274320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9921240" y="150876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1592" y="1691640"/>
            <a:ext cx="402336" cy="40233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994392" y="219456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 (ro)</a:t>
            </a:r>
            <a:endParaRPr lang="en-US" sz="1100" dirty="0"/>
          </a:p>
        </p:txBody>
      </p:sp>
      <p:sp>
        <p:nvSpPr>
          <p:cNvPr id="32" name="Text 19"/>
          <p:cNvSpPr/>
          <p:nvPr/>
        </p:nvSpPr>
        <p:spPr>
          <a:xfrm>
            <a:off x="9994392" y="256032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предобуч. LightGBM + признаки</a:t>
            </a:r>
            <a:endParaRPr lang="en-US" sz="850" dirty="0"/>
          </a:p>
        </p:txBody>
      </p:sp>
      <p:sp>
        <p:nvSpPr>
          <p:cNvPr id="33" name="Shape 20"/>
          <p:cNvSpPr/>
          <p:nvPr/>
        </p:nvSpPr>
        <p:spPr>
          <a:xfrm>
            <a:off x="1371600" y="37033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" y="3995928"/>
            <a:ext cx="457200" cy="45720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224028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36" name="Text 22"/>
          <p:cNvSpPr/>
          <p:nvPr/>
        </p:nvSpPr>
        <p:spPr>
          <a:xfrm>
            <a:off x="2240280" y="4206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balance · transactions · forecast_jobs · results</a:t>
            </a:r>
            <a:endParaRPr lang="en-US" sz="950" dirty="0"/>
          </a:p>
        </p:txBody>
      </p:sp>
      <p:sp>
        <p:nvSpPr>
          <p:cNvPr id="37" name="Shape 23"/>
          <p:cNvSpPr/>
          <p:nvPr/>
        </p:nvSpPr>
        <p:spPr>
          <a:xfrm flipV="1">
            <a:off x="3703320" y="3108960"/>
            <a:ext cx="1325880" cy="594360"/>
          </a:xfrm>
          <a:prstGeom prst="line">
            <a:avLst/>
          </a:prstGeom>
          <a:noFill/>
          <a:ln w="15875">
            <a:solidFill>
              <a:srgbClr val="B7C1D1"/>
            </a:solidFill>
            <a:prstDash val="solid"/>
            <a:tailEnd type="triangle"/>
          </a:ln>
        </p:spPr>
      </p:sp>
      <p:sp>
        <p:nvSpPr>
          <p:cNvPr id="38" name="Text 24"/>
          <p:cNvSpPr/>
          <p:nvPr/>
        </p:nvSpPr>
        <p:spPr>
          <a:xfrm>
            <a:off x="2788920" y="30861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задачи</a:t>
            </a:r>
            <a:endParaRPr lang="en-US" sz="800" dirty="0"/>
          </a:p>
        </p:txBody>
      </p:sp>
      <p:sp>
        <p:nvSpPr>
          <p:cNvPr id="39" name="Shape 25"/>
          <p:cNvSpPr/>
          <p:nvPr/>
        </p:nvSpPr>
        <p:spPr>
          <a:xfrm>
            <a:off x="6492240" y="37033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3995928"/>
            <a:ext cx="457200" cy="45720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736092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350" dirty="0"/>
          </a:p>
        </p:txBody>
      </p:sp>
      <p:sp>
        <p:nvSpPr>
          <p:cNvPr id="42" name="Text 27"/>
          <p:cNvSpPr/>
          <p:nvPr/>
        </p:nvSpPr>
        <p:spPr>
          <a:xfrm>
            <a:off x="7360920" y="4206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uploads_data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(входные CSV) </a:t>
            </a:r>
            <a:endParaRPr lang="ru-RU" sz="95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results_data (CSV с прогнозом)</a:t>
            </a:r>
            <a:endParaRPr lang="en-US" sz="950" dirty="0"/>
          </a:p>
        </p:txBody>
      </p:sp>
      <p:sp>
        <p:nvSpPr>
          <p:cNvPr id="43" name="Shape 28"/>
          <p:cNvSpPr/>
          <p:nvPr/>
        </p:nvSpPr>
        <p:spPr>
          <a:xfrm>
            <a:off x="8778240" y="3108960"/>
            <a:ext cx="45720" cy="594360"/>
          </a:xfrm>
          <a:prstGeom prst="line">
            <a:avLst/>
          </a:prstGeom>
          <a:noFill/>
          <a:ln w="15875">
            <a:solidFill>
              <a:srgbClr val="B7C1D1"/>
            </a:solidFill>
            <a:prstDash val="solid"/>
            <a:tailEnd type="triangle"/>
          </a:ln>
        </p:spPr>
      </p:sp>
      <p:sp>
        <p:nvSpPr>
          <p:cNvPr id="44" name="Text 29"/>
          <p:cNvSpPr/>
          <p:nvPr/>
        </p:nvSpPr>
        <p:spPr>
          <a:xfrm>
            <a:off x="7863840" y="30861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CSV / запись прогноза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</a:t>
            </a:r>
            <a:r>
              <a:rPr lang="ru-RU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Жизненный цикл задачи прогноза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28216"/>
            <a:ext cx="457200" cy="457200"/>
          </a:xfrm>
          <a:prstGeom prst="ellipse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160020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8105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673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/ вход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7830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/auth/signup · /auth/signin → JWT-токен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188720" y="242316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263347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249631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Пополнение баланса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783080" y="2788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/balance/deposit — кредиты на счёт пользователя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188720" y="324612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345643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1927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CSV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783080" y="3611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/forecast/upload → файл в uploads_data, создаётся job (pending)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1188720" y="406908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312" y="427939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41422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обработки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783080" y="4434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/forecast/job/{id}/process → списание кредитов, публикация в очередь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5020056"/>
            <a:ext cx="457200" cy="457200"/>
          </a:xfrm>
          <a:prstGeom prst="ellipse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1188720" y="489204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312" y="5102352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83080" y="496519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воркером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783080" y="52578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ml_worker: валидация → LightGBM (рекурсивный прогноз) → CSV в results_data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48640" y="5843016"/>
            <a:ext cx="457200" cy="457200"/>
          </a:xfrm>
          <a:prstGeom prst="ellipse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548640" y="5843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1188720" y="571500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312" y="5925312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783080" y="57881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Скачивание результата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1783080" y="6080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/forecast/job/{id}/download → CSV (id, date, forecast)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635240" y="1600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задачи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7635240" y="2057400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2276856"/>
            <a:ext cx="292608" cy="29260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229600" y="2148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8229600" y="2441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создана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7635240" y="28346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46" name="Shape 37"/>
          <p:cNvSpPr/>
          <p:nvPr/>
        </p:nvSpPr>
        <p:spPr>
          <a:xfrm>
            <a:off x="7635240" y="3127248"/>
            <a:ext cx="3977640" cy="73152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3346704"/>
            <a:ext cx="292608" cy="29260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229600" y="32186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8229600" y="3511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очереди / считается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7635240" y="39044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51" name="Shape 41"/>
          <p:cNvSpPr/>
          <p:nvPr/>
        </p:nvSpPr>
        <p:spPr>
          <a:xfrm>
            <a:off x="7635240" y="4187952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5B7FA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4425696"/>
            <a:ext cx="256032" cy="256032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8092440" y="42611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54" name="Text 43"/>
          <p:cNvSpPr/>
          <p:nvPr/>
        </p:nvSpPr>
        <p:spPr>
          <a:xfrm>
            <a:off x="8092440" y="45354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готов</a:t>
            </a:r>
            <a:endParaRPr lang="en-US" sz="800" dirty="0"/>
          </a:p>
        </p:txBody>
      </p:sp>
      <p:sp>
        <p:nvSpPr>
          <p:cNvPr id="55" name="Shape 44"/>
          <p:cNvSpPr/>
          <p:nvPr/>
        </p:nvSpPr>
        <p:spPr>
          <a:xfrm>
            <a:off x="9738360" y="4187952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12700">
            <a:solidFill>
              <a:srgbClr val="C7CEDA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0" y="4425696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0195560" y="42611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58" name="Text 46"/>
          <p:cNvSpPr/>
          <p:nvPr/>
        </p:nvSpPr>
        <p:spPr>
          <a:xfrm>
            <a:off x="10195560" y="45354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кредитов</a:t>
            </a:r>
            <a:endParaRPr lang="en-US" sz="800" dirty="0"/>
          </a:p>
        </p:txBody>
      </p:sp>
      <p:sp>
        <p:nvSpPr>
          <p:cNvPr id="59" name="Shape 47"/>
          <p:cNvSpPr/>
          <p:nvPr/>
        </p:nvSpPr>
        <p:spPr>
          <a:xfrm>
            <a:off x="7635240" y="52578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1F6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0" name="Text 48"/>
          <p:cNvSpPr/>
          <p:nvPr/>
        </p:nvSpPr>
        <p:spPr>
          <a:xfrm>
            <a:off x="7818120" y="5376672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— только за успешный расчёт: при сбое обработки списанные кредиты возвращаются на баланс пользователя автоматически.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Применение AI: агенты и инструменты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Claude, DeepSeek — для ускорения сроков разработки проекта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рынка / конкурентов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31520" y="3566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источников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2423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606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качества ML-моделей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474720" y="3566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способов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35040" y="2423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606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792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ресурсов </a:t>
            </a:r>
            <a:r>
              <a:rPr lang="ru-RU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обучении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217920" y="3566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способов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778240" y="2423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26060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96112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пайплайна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961120" y="3566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проверка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48640" y="4160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34340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1520" y="4800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интерфейса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сервиса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731520" y="5303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написание кода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291840" y="4160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434340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74720" y="4800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презентации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3474720" y="5303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 в оформлении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035040" y="4160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4343400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217920" y="4800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Тренировка ответов</a:t>
            </a:r>
            <a:r>
              <a:rPr lang="ru-RU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вопросы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6217920" y="5303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потенциальных вопросов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3CED38-39AF-6FA8-0993-2F7F79086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305803" cy="49388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FF1D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за 4 недели / внедрение ≤ 2 месяцев — против 2–4 месяцев у прямых конкурентов (Forecast NOW!, Novo Forecast, Napoleon IT)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0520" y="1600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828800"/>
            <a:ext cx="548640" cy="548640"/>
          </a:xfrm>
          <a:prstGeom prst="ellipse">
            <a:avLst/>
          </a:prstGeom>
          <a:solidFill>
            <a:srgbClr val="FFF1D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659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8912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Коридор </a:t>
            </a:r>
            <a:r>
              <a:rPr lang="ru-RU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1</a:t>
            </a:r>
            <a:r>
              <a:rPr lang="en-US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 2</a:t>
            </a:r>
            <a:r>
              <a:rPr lang="en-US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 тыс </a:t>
            </a:r>
            <a:r>
              <a:rPr lang="en-US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 ₽/мес</a:t>
            </a:r>
            <a:r>
              <a:rPr lang="en-US" sz="1100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магазин</a:t>
            </a:r>
            <a:r>
              <a:rPr lang="en-US" sz="1100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— между «слишком простым»</a:t>
            </a:r>
            <a:r>
              <a:rPr lang="ru-RU" sz="1100" dirty="0">
                <a:effectLst/>
                <a:ea typeface="Times New Roman" panose="02020603050405020304" pitchFamily="18" charset="0"/>
              </a:rPr>
              <a:t> 1С-Товары</a:t>
            </a:r>
            <a:r>
              <a:rPr lang="en-US" sz="1100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 и дорогими enterprise-решениями (от 1 млн ₽)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0" y="1600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01000" y="1828800"/>
            <a:ext cx="548640" cy="548640"/>
          </a:xfrm>
          <a:prstGeom prst="ellipse">
            <a:avLst/>
          </a:prstGeom>
          <a:solidFill>
            <a:srgbClr val="FFF1D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659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01000" y="28803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показывает, какие факторы в целом определяют прогноз (товар, срок с начала продаж, сезонность, цена)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FFF1D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05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 прогноз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53949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коротких лагов без утечки данных — более точное отслеживание </a:t>
            </a:r>
            <a:r>
              <a:rPr lang="ru-RU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последней</a:t>
            </a: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динамики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160520" y="4114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89120" y="4343400"/>
            <a:ext cx="548640" cy="548640"/>
          </a:xfrm>
          <a:prstGeom prst="ellipse">
            <a:avLst/>
          </a:prstGeom>
          <a:solidFill>
            <a:srgbClr val="FFF1D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4805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89120" y="5029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389120" y="53949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WRMSSE на 12-уровневой иерархии тестовых данных M5 Walmart — 0.607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Технологические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Малое кол-во данных для отдельных SKU — глобальные модели (LightGBM, DeepAR)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доля нулевых продаж — Tweedie-loss, RMSSE/WRMSSE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 — time-based split, мониторинг train/validation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инфраструктуры — </a:t>
            </a:r>
            <a:r>
              <a:rPr lang="ru-RU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способа обучения моделей</a:t>
            </a:r>
            <a:endParaRPr lang="en-US" sz="95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объяснимости прогноза — добавление объяснения отдельного прогноза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квантильного прогноза — модели с quantile loss в </a:t>
            </a:r>
            <a:r>
              <a:rPr lang="ru-RU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следующих</a:t>
            </a: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версиях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80760" y="15087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916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75120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Экономические / рыночные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263640" y="210312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порог доверия клиентов — нужны короткие пилоты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 с 1С-Товары — нужен перевес в качестве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конкуренты — позиционирование в нише среднего ритейла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Ограниченность сроков — итеративный подход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062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187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Человеческие / поведенческие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31520" y="461772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не доверяет прогнозу — показ важности признаков </a:t>
            </a:r>
            <a:r>
              <a:rPr lang="ru-RU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объяснения прогноза </a:t>
            </a: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планируемый квантильный прогноз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80760" y="40233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2062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4187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данных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263640" y="461772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коммерческих данных через облако — сквозное шифрование на уровне приложения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Несанкционированный доступ сотрудников — ролевая модель доступа, логирование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Недостаточная анонимизация при обучении/отладке — локальная инфраструктура, NDA, инструктаж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Комплаенс и регуляторные риски — исключение обработки ПД без явной необходимости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r>
              <a:rPr lang="en-US" sz="12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4334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5564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продукта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прогнозирования спроса на 28 дней вперёд на уровне «товар × магазин» с помощью рекурсивной модели LightGBM, помогающий менеджеру формировать заказ и рассчитывать страховой запас.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554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4334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175564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</a:t>
            </a: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рынку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</a:t>
            </a:r>
            <a:r>
              <a:rPr lang="ru-RU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решение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09360" y="23317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ритейл зажат между слишком простым 1С и дорогими enterprise-решениями. 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4334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60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13308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77240" y="4709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техническая гипотеза – модель точнее baseline.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полный пайплайн обучения, включая рекурсивный прогноз с короткими лагами.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 базовая версия сервиса для работы с ML-моделью.</a:t>
            </a:r>
          </a:p>
        </p:txBody>
      </p:sp>
      <p:sp>
        <p:nvSpPr>
          <p:cNvPr id="16" name="Shape 11"/>
          <p:cNvSpPr/>
          <p:nvPr/>
        </p:nvSpPr>
        <p:spPr>
          <a:xfrm>
            <a:off x="6080760" y="3931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4334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1605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413308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309360" y="4709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Квантильный прогноз;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дашбордов в ML-сервис;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 одной компанией-пользователем</a:t>
            </a: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5359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58227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Фадеев Константин</a:t>
            </a:r>
            <a:endParaRPr lang="en-US" sz="18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E9644194-E575-A2DC-ADCF-81BEFEF28379}"/>
              </a:ext>
            </a:extLst>
          </p:cNvPr>
          <p:cNvSpPr/>
          <p:nvPr/>
        </p:nvSpPr>
        <p:spPr>
          <a:xfrm>
            <a:off x="809898" y="2816679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355E496-306B-E105-01DE-69865120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518" y="2953839"/>
            <a:ext cx="1188720" cy="1188720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0895AE84-9AB9-E3C3-293C-201BCBECE61D}"/>
              </a:ext>
            </a:extLst>
          </p:cNvPr>
          <p:cNvSpPr/>
          <p:nvPr/>
        </p:nvSpPr>
        <p:spPr>
          <a:xfrm>
            <a:off x="855618" y="4188279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github.com/Stern-Ritter/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demand-forecasting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1663</Words>
  <Application>Microsoft Office PowerPoint</Application>
  <PresentationFormat>Широкоэкранный</PresentationFormat>
  <Paragraphs>245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RetailForecast — ML-сервис прогнозирования спроса</dc:title>
  <dc:subject>PptxGenJS Presentation</dc:subject>
  <dc:creator>Фадеев Константин</dc:creator>
  <cp:lastModifiedBy>Константин Фадеев</cp:lastModifiedBy>
  <cp:revision>18</cp:revision>
  <dcterms:created xsi:type="dcterms:W3CDTF">2026-07-03T14:57:01Z</dcterms:created>
  <dcterms:modified xsi:type="dcterms:W3CDTF">2026-07-04T14:37:56Z</dcterms:modified>
</cp:coreProperties>
</file>